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A38B2FD2-3580-2B08-EA58-9ED13E3B978E}">
          <p14:sldIdLst>
            <p14:sldId id="256"/>
            <p14:sldId id="257"/>
            <p14:sldId id="258"/>
          </p14:sldIdLst>
        </p14:section>
        <p14:section name="Câmera" id="{ACB9075E-76D9-F1AA-1A08-AD5A2F1D37E8}">
          <p14:sldIdLst>
            <p14:sldId id="259"/>
            <p14:sldId id="260"/>
          </p14:sldIdLst>
        </p14:section>
        <p14:section name="Voz" id="{849FFEEB-9C49-24D0-8450-999363CFB1EA}">
          <p14:sldIdLst>
            <p14:sldId id="261"/>
            <p14:sldId id="262"/>
          </p14:sldIdLst>
        </p14:section>
        <p14:section name="Sensores fisiológicos" id="{C8534193-F1A2-5942-BAFC-537AD6AA5026}">
          <p14:sldIdLst>
            <p14:sldId id="263"/>
            <p14:sldId id="264"/>
          </p14:sldIdLst>
        </p14:section>
        <p14:section name="Restrições e plano" id="{78BA10D7-786F-61DE-DED5-A2F99DBDFECF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543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Chamo de módulo em vez de modelo, por que há módulos com mais do que 1 modelo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1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3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</a:rPr>
              <a:t>DATASET DE REFERÊNCIA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UL-DD: A Multimodal Drowsiness Dataset Using Video, Biometric Signals, and Behavioral Data</a:t>
            </a:r>
            <a:endParaRPr lang="en-US" sz="3000" dirty="0"/>
          </a:p>
        </p:txBody>
      </p:sp>
      <p:sp>
        <p:nvSpPr>
          <p:cNvPr id="6" name="figCard"/>
          <p:cNvSpPr/>
          <p:nvPr/>
        </p:nvSpPr>
        <p:spPr>
          <a:xfrm>
            <a:off x="548640" y="1737360"/>
            <a:ext cx="11091672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7" name="ulddFigure" descr="Pipeline do dataset UL-D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515" y="1874520"/>
            <a:ext cx="9705923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4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3E7BEA"/>
          </a:solidFill>
          <a:ln w="12700">
            <a:solidFill>
              <a:srgbClr val="3E7BE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6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BEA"/>
                </a:solidFill>
              </a:rPr>
              <a:t>ESTRATÉGIAS DE FUSÃO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UL-DD: A Multimodal Drowsiness Dataset Using Video, Biometric Signals, and Behavioral Data</a:t>
            </a:r>
            <a:endParaRPr lang="en-US" sz="3200" dirty="0"/>
          </a:p>
        </p:txBody>
      </p:sp>
      <p:sp>
        <p:nvSpPr>
          <p:cNvPr id="6" name="card_7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num_8"/>
          <p:cNvSpPr txBox="1"/>
          <p:nvPr/>
        </p:nvSpPr>
        <p:spPr>
          <a:xfrm>
            <a:off x="82296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fusTitle_9"/>
          <p:cNvSpPr txBox="1"/>
          <p:nvPr/>
        </p:nvSpPr>
        <p:spPr>
          <a:xfrm>
            <a:off x="82296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Early fusion</a:t>
            </a:r>
            <a:endParaRPr lang="en-US" sz="2000" dirty="0"/>
          </a:p>
        </p:txBody>
      </p:sp>
      <p:pic>
        <p:nvPicPr>
          <p:cNvPr id="9" name="fusImg_10" descr="Early fus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10385"/>
            <a:ext cx="3063240" cy="2100270"/>
          </a:xfrm>
          <a:prstGeom prst="rect">
            <a:avLst/>
          </a:prstGeom>
        </p:spPr>
      </p:pic>
      <p:sp>
        <p:nvSpPr>
          <p:cNvPr id="10" name="card_11"/>
          <p:cNvSpPr/>
          <p:nvPr/>
        </p:nvSpPr>
        <p:spPr>
          <a:xfrm>
            <a:off x="4343400" y="1874520"/>
            <a:ext cx="3520440" cy="37490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num_12"/>
          <p:cNvSpPr txBox="1"/>
          <p:nvPr/>
        </p:nvSpPr>
        <p:spPr>
          <a:xfrm>
            <a:off x="461772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fusTitle_13"/>
          <p:cNvSpPr txBox="1"/>
          <p:nvPr/>
        </p:nvSpPr>
        <p:spPr>
          <a:xfrm>
            <a:off x="461772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Intermediate fusion</a:t>
            </a:r>
            <a:endParaRPr lang="en-US" sz="2000" dirty="0"/>
          </a:p>
        </p:txBody>
      </p:sp>
      <p:pic>
        <p:nvPicPr>
          <p:cNvPr id="13" name="fusImg_14" descr="Intermediate fus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51220"/>
            <a:ext cx="3063240" cy="1418600"/>
          </a:xfrm>
          <a:prstGeom prst="rect">
            <a:avLst/>
          </a:prstGeom>
        </p:spPr>
      </p:pic>
      <p:sp>
        <p:nvSpPr>
          <p:cNvPr id="14" name="card_15"/>
          <p:cNvSpPr/>
          <p:nvPr/>
        </p:nvSpPr>
        <p:spPr>
          <a:xfrm>
            <a:off x="8138160" y="1874520"/>
            <a:ext cx="3520440" cy="37490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num_16"/>
          <p:cNvSpPr txBox="1"/>
          <p:nvPr/>
        </p:nvSpPr>
        <p:spPr>
          <a:xfrm>
            <a:off x="841248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fusTitle_17"/>
          <p:cNvSpPr txBox="1"/>
          <p:nvPr/>
        </p:nvSpPr>
        <p:spPr>
          <a:xfrm>
            <a:off x="841248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Late fusion</a:t>
            </a:r>
            <a:endParaRPr lang="en-US" sz="2000" dirty="0"/>
          </a:p>
        </p:txBody>
      </p:sp>
      <p:pic>
        <p:nvPicPr>
          <p:cNvPr id="17" name="fusImg_18" descr="Late fus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294276"/>
            <a:ext cx="3063240" cy="1732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19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21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</a:rPr>
              <a:t>PROBLEMAS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Problemas gerais</a:t>
            </a:r>
            <a:endParaRPr lang="en-US" sz="3200" dirty="0"/>
          </a:p>
        </p:txBody>
      </p:sp>
      <p:sp>
        <p:nvSpPr>
          <p:cNvPr id="6" name="card_22"/>
          <p:cNvSpPr/>
          <p:nvPr/>
        </p:nvSpPr>
        <p:spPr>
          <a:xfrm>
            <a:off x="548640" y="1828800"/>
            <a:ext cx="5422392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23"/>
          <p:cNvSpPr/>
          <p:nvPr/>
        </p:nvSpPr>
        <p:spPr>
          <a:xfrm>
            <a:off x="960120" y="2286000"/>
            <a:ext cx="914400" cy="9144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2532888"/>
            <a:ext cx="420624" cy="420624"/>
          </a:xfrm>
          <a:prstGeom prst="rect">
            <a:avLst/>
          </a:prstGeom>
        </p:spPr>
      </p:pic>
      <p:sp>
        <p:nvSpPr>
          <p:cNvPr id="9" name="probTitle_25"/>
          <p:cNvSpPr txBox="1"/>
          <p:nvPr/>
        </p:nvSpPr>
        <p:spPr>
          <a:xfrm>
            <a:off x="960120" y="347472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Variabilidade do baseline entre condutores</a:t>
            </a:r>
            <a:endParaRPr lang="en-US" sz="2400" dirty="0"/>
          </a:p>
        </p:txBody>
      </p:sp>
      <p:sp>
        <p:nvSpPr>
          <p:cNvPr id="10" name="noteBg_26"/>
          <p:cNvSpPr/>
          <p:nvPr/>
        </p:nvSpPr>
        <p:spPr>
          <a:xfrm>
            <a:off x="960120" y="4846320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FDF3D6"/>
          </a:solidFill>
          <a:ln w="12700">
            <a:solidFill>
              <a:srgbClr val="FDF3D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note_27"/>
          <p:cNvSpPr txBox="1"/>
          <p:nvPr/>
        </p:nvSpPr>
        <p:spPr>
          <a:xfrm>
            <a:off x="1143000" y="4846320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5A00"/>
                </a:solidFill>
              </a:rPr>
              <a:t>Extremamente relevante para a generalização do modelo</a:t>
            </a:r>
            <a:endParaRPr lang="en-US" sz="1500" dirty="0"/>
          </a:p>
        </p:txBody>
      </p:sp>
      <p:sp>
        <p:nvSpPr>
          <p:cNvPr id="12" name="card_28"/>
          <p:cNvSpPr/>
          <p:nvPr/>
        </p:nvSpPr>
        <p:spPr>
          <a:xfrm>
            <a:off x="6217920" y="1828800"/>
            <a:ext cx="5422392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iconBg_29"/>
          <p:cNvSpPr/>
          <p:nvPr/>
        </p:nvSpPr>
        <p:spPr>
          <a:xfrm>
            <a:off x="6629400" y="2286000"/>
            <a:ext cx="914400" cy="9144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4" name="icon_3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2532888"/>
            <a:ext cx="420624" cy="420624"/>
          </a:xfrm>
          <a:prstGeom prst="rect">
            <a:avLst/>
          </a:prstGeom>
        </p:spPr>
      </p:pic>
      <p:sp>
        <p:nvSpPr>
          <p:cNvPr id="15" name="probTitle_31"/>
          <p:cNvSpPr txBox="1"/>
          <p:nvPr/>
        </p:nvSpPr>
        <p:spPr>
          <a:xfrm>
            <a:off x="6629400" y="347472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Custo computacional</a:t>
            </a:r>
            <a:endParaRPr lang="en-US" sz="2400" dirty="0"/>
          </a:p>
        </p:txBody>
      </p:sp>
      <p:sp>
        <p:nvSpPr>
          <p:cNvPr id="16" name="noteBg_32"/>
          <p:cNvSpPr/>
          <p:nvPr/>
        </p:nvSpPr>
        <p:spPr>
          <a:xfrm>
            <a:off x="6629400" y="4846320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FDF3D6"/>
          </a:solidFill>
          <a:ln w="12700">
            <a:solidFill>
              <a:srgbClr val="FDF3D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note_33"/>
          <p:cNvSpPr txBox="1"/>
          <p:nvPr/>
        </p:nvSpPr>
        <p:spPr>
          <a:xfrm>
            <a:off x="6812280" y="4846320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5A00"/>
                </a:solidFill>
              </a:rPr>
              <a:t>Velocidade de resposta em tempo real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34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3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36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</a:rPr>
              <a:t>MODALIDADE 1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Câmera</a:t>
            </a:r>
            <a:endParaRPr lang="en-US" sz="3200" dirty="0"/>
          </a:p>
        </p:txBody>
      </p:sp>
      <p:sp>
        <p:nvSpPr>
          <p:cNvPr id="6" name="card_37"/>
          <p:cNvSpPr/>
          <p:nvPr/>
        </p:nvSpPr>
        <p:spPr>
          <a:xfrm>
            <a:off x="548640" y="1508760"/>
            <a:ext cx="3593592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38"/>
          <p:cNvSpPr/>
          <p:nvPr/>
        </p:nvSpPr>
        <p:spPr>
          <a:xfrm>
            <a:off x="749808" y="1691640"/>
            <a:ext cx="411480" cy="4114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3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08" y="1802740"/>
            <a:ext cx="189281" cy="189281"/>
          </a:xfrm>
          <a:prstGeom prst="rect">
            <a:avLst/>
          </a:prstGeom>
        </p:spPr>
      </p:pic>
      <p:sp>
        <p:nvSpPr>
          <p:cNvPr id="9" name="camTitle_40"/>
          <p:cNvSpPr txBox="1"/>
          <p:nvPr/>
        </p:nvSpPr>
        <p:spPr>
          <a:xfrm>
            <a:off x="1280160" y="169164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Atenção visual</a:t>
            </a:r>
            <a:endParaRPr lang="en-US" sz="1500" dirty="0"/>
          </a:p>
        </p:txBody>
      </p:sp>
      <p:sp>
        <p:nvSpPr>
          <p:cNvPr id="10" name="body_41"/>
          <p:cNvSpPr txBox="1"/>
          <p:nvPr/>
        </p:nvSpPr>
        <p:spPr>
          <a:xfrm>
            <a:off x="749808" y="2221992"/>
            <a:ext cx="31912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Não basta a direção do olhar instantânea. Interessam a duração de cada olhar fora da estrada (olhares acima de ~2 s são o indicador clássico de risco), a distribuição por zonas (estrada, espelhos, painel, telemóvel) e a dispersão do olhar. Um olhar invulgarmente concentrado no centro (</a:t>
            </a:r>
            <a:r>
              <a:rPr lang="en-US" sz="1100" i="1" dirty="0">
                <a:solidFill>
                  <a:schemeClr val="tx1"/>
                </a:solidFill>
              </a:rPr>
              <a:t>gaze concentration</a:t>
            </a:r>
            <a:r>
              <a:rPr lang="en-US" sz="1100" dirty="0">
                <a:solidFill>
                  <a:schemeClr val="tx1"/>
                </a:solidFill>
              </a:rPr>
              <a:t>) é sinal de </a:t>
            </a:r>
            <a:r>
              <a:rPr lang="en-US" sz="1100" b="1" dirty="0">
                <a:solidFill>
                  <a:schemeClr val="tx1"/>
                </a:solidFill>
              </a:rPr>
              <a:t>distração cognitiva</a:t>
            </a:r>
            <a:r>
              <a:rPr lang="en-US" sz="1100" dirty="0">
                <a:solidFill>
                  <a:schemeClr val="tx1"/>
                </a:solidFill>
              </a:rPr>
              <a:t>, muito difícil de detetar por outras vias.</a:t>
            </a:r>
            <a:endParaRPr lang="en-US" sz="1100" dirty="0"/>
          </a:p>
        </p:txBody>
      </p:sp>
      <p:sp>
        <p:nvSpPr>
          <p:cNvPr id="11" name="card_42"/>
          <p:cNvSpPr/>
          <p:nvPr/>
        </p:nvSpPr>
        <p:spPr>
          <a:xfrm>
            <a:off x="4297680" y="1508760"/>
            <a:ext cx="3593592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iconBg_43"/>
          <p:cNvSpPr/>
          <p:nvPr/>
        </p:nvSpPr>
        <p:spPr>
          <a:xfrm>
            <a:off x="4498848" y="1691640"/>
            <a:ext cx="411480" cy="4114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3" name="icon_4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948" y="1802740"/>
            <a:ext cx="189281" cy="189281"/>
          </a:xfrm>
          <a:prstGeom prst="rect">
            <a:avLst/>
          </a:prstGeom>
        </p:spPr>
      </p:pic>
      <p:sp>
        <p:nvSpPr>
          <p:cNvPr id="14" name="camTitle_45"/>
          <p:cNvSpPr txBox="1"/>
          <p:nvPr/>
        </p:nvSpPr>
        <p:spPr>
          <a:xfrm>
            <a:off x="5029200" y="169164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Sonolência</a:t>
            </a:r>
            <a:endParaRPr lang="en-US" sz="1500" dirty="0"/>
          </a:p>
        </p:txBody>
      </p:sp>
      <p:sp>
        <p:nvSpPr>
          <p:cNvPr id="15" name="body_46"/>
          <p:cNvSpPr txBox="1"/>
          <p:nvPr/>
        </p:nvSpPr>
        <p:spPr>
          <a:xfrm>
            <a:off x="4498848" y="2221992"/>
            <a:ext cx="31912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Além das AUs, as métricas oculares são as mais robustas da literatura: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PERCLOS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Duração e frequência do piscar (AU45)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Velocidade de reabertura da pálpebra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Microssonos (AU43)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Bocejos (AU26/27)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Cabeceamentos (head nodding), a partir da pose da cabeça</a:t>
            </a:r>
            <a:endParaRPr lang="en-US" sz="1100" dirty="0"/>
          </a:p>
        </p:txBody>
      </p:sp>
      <p:sp>
        <p:nvSpPr>
          <p:cNvPr id="16" name="card_47"/>
          <p:cNvSpPr/>
          <p:nvPr/>
        </p:nvSpPr>
        <p:spPr>
          <a:xfrm>
            <a:off x="8046720" y="1508760"/>
            <a:ext cx="3593592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iconBg_48"/>
          <p:cNvSpPr/>
          <p:nvPr/>
        </p:nvSpPr>
        <p:spPr>
          <a:xfrm>
            <a:off x="8247888" y="1691640"/>
            <a:ext cx="411480" cy="4114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con_4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988" y="1802740"/>
            <a:ext cx="189281" cy="189281"/>
          </a:xfrm>
          <a:prstGeom prst="rect">
            <a:avLst/>
          </a:prstGeom>
        </p:spPr>
      </p:pic>
      <p:sp>
        <p:nvSpPr>
          <p:cNvPr id="19" name="camTitle_50"/>
          <p:cNvSpPr txBox="1"/>
          <p:nvPr/>
        </p:nvSpPr>
        <p:spPr>
          <a:xfrm>
            <a:off x="8778240" y="169164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Emoção</a:t>
            </a:r>
            <a:endParaRPr lang="en-US" sz="1500" dirty="0"/>
          </a:p>
        </p:txBody>
      </p:sp>
      <p:sp>
        <p:nvSpPr>
          <p:cNvPr id="20" name="body_51"/>
          <p:cNvSpPr txBox="1"/>
          <p:nvPr/>
        </p:nvSpPr>
        <p:spPr>
          <a:xfrm>
            <a:off x="8247888" y="2221992"/>
            <a:ext cx="31912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 expressão facial também dá emoção, não só o áudio. Importante porque o condutor passa a maior parte do tempo calado.</a:t>
            </a:r>
            <a:endParaRPr lang="en-US" sz="1100" dirty="0"/>
          </a:p>
        </p:txBody>
      </p:sp>
      <p:sp>
        <p:nvSpPr>
          <p:cNvPr id="21" name="card_52"/>
          <p:cNvSpPr/>
          <p:nvPr/>
        </p:nvSpPr>
        <p:spPr>
          <a:xfrm>
            <a:off x="548640" y="4160520"/>
            <a:ext cx="3593592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iconBg_53"/>
          <p:cNvSpPr/>
          <p:nvPr/>
        </p:nvSpPr>
        <p:spPr>
          <a:xfrm>
            <a:off x="749808" y="4343400"/>
            <a:ext cx="411480" cy="4114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3" name="icon_5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908" y="4454500"/>
            <a:ext cx="189281" cy="189281"/>
          </a:xfrm>
          <a:prstGeom prst="rect">
            <a:avLst/>
          </a:prstGeom>
        </p:spPr>
      </p:pic>
      <p:sp>
        <p:nvSpPr>
          <p:cNvPr id="24" name="camTitle_55"/>
          <p:cNvSpPr txBox="1"/>
          <p:nvPr/>
        </p:nvSpPr>
        <p:spPr>
          <a:xfrm>
            <a:off x="1280160" y="434340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Distração manual</a:t>
            </a:r>
            <a:endParaRPr lang="en-US" sz="1500" dirty="0"/>
          </a:p>
        </p:txBody>
      </p:sp>
      <p:sp>
        <p:nvSpPr>
          <p:cNvPr id="25" name="body_56"/>
          <p:cNvSpPr txBox="1"/>
          <p:nvPr/>
        </p:nvSpPr>
        <p:spPr>
          <a:xfrm>
            <a:off x="749808" y="4873752"/>
            <a:ext cx="3191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o enquadramento apanhar as mãos e o tronco, deteta-se telemóvel, comer, beber, fumar e mãos fora do volante.</a:t>
            </a:r>
            <a:endParaRPr lang="en-US" sz="1100" dirty="0"/>
          </a:p>
        </p:txBody>
      </p:sp>
      <p:sp>
        <p:nvSpPr>
          <p:cNvPr id="26" name="card_57"/>
          <p:cNvSpPr/>
          <p:nvPr/>
        </p:nvSpPr>
        <p:spPr>
          <a:xfrm>
            <a:off x="4297680" y="4160520"/>
            <a:ext cx="3593592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7" name="iconBg_58"/>
          <p:cNvSpPr/>
          <p:nvPr/>
        </p:nvSpPr>
        <p:spPr>
          <a:xfrm>
            <a:off x="4498848" y="4343400"/>
            <a:ext cx="411480" cy="4114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8" name="icon_5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9948" y="4454500"/>
            <a:ext cx="189281" cy="189281"/>
          </a:xfrm>
          <a:prstGeom prst="rect">
            <a:avLst/>
          </a:prstGeom>
        </p:spPr>
      </p:pic>
      <p:sp>
        <p:nvSpPr>
          <p:cNvPr id="29" name="camTitle_60"/>
          <p:cNvSpPr txBox="1"/>
          <p:nvPr/>
        </p:nvSpPr>
        <p:spPr>
          <a:xfrm>
            <a:off x="5029200" y="434340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Postura</a:t>
            </a:r>
            <a:endParaRPr lang="en-US" sz="1500" dirty="0"/>
          </a:p>
        </p:txBody>
      </p:sp>
      <p:sp>
        <p:nvSpPr>
          <p:cNvPr id="30" name="body_61"/>
          <p:cNvSpPr txBox="1"/>
          <p:nvPr/>
        </p:nvSpPr>
        <p:spPr>
          <a:xfrm>
            <a:off x="4498848" y="4873752"/>
            <a:ext cx="3191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Afundamento no banco e inquietação, que se correlacionam com fadiga.</a:t>
            </a:r>
            <a:endParaRPr lang="en-US" sz="1100" dirty="0"/>
          </a:p>
        </p:txBody>
      </p:sp>
      <p:sp>
        <p:nvSpPr>
          <p:cNvPr id="31" name="card_62"/>
          <p:cNvSpPr/>
          <p:nvPr/>
        </p:nvSpPr>
        <p:spPr>
          <a:xfrm>
            <a:off x="8046720" y="4160520"/>
            <a:ext cx="3593592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2" name="iconBg_63"/>
          <p:cNvSpPr/>
          <p:nvPr/>
        </p:nvSpPr>
        <p:spPr>
          <a:xfrm>
            <a:off x="8247888" y="4343400"/>
            <a:ext cx="411480" cy="41148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3" name="icon_6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8988" y="4454500"/>
            <a:ext cx="189281" cy="189281"/>
          </a:xfrm>
          <a:prstGeom prst="rect">
            <a:avLst/>
          </a:prstGeom>
        </p:spPr>
      </p:pic>
      <p:sp>
        <p:nvSpPr>
          <p:cNvPr id="34" name="camTitle_65"/>
          <p:cNvSpPr txBox="1"/>
          <p:nvPr/>
        </p:nvSpPr>
        <p:spPr>
          <a:xfrm>
            <a:off x="8778240" y="434340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Sinais fisiológicos remotos</a:t>
            </a:r>
            <a:endParaRPr lang="en-US" sz="1500" dirty="0"/>
          </a:p>
        </p:txBody>
      </p:sp>
      <p:sp>
        <p:nvSpPr>
          <p:cNvPr id="35" name="body_66"/>
          <p:cNvSpPr txBox="1"/>
          <p:nvPr/>
        </p:nvSpPr>
        <p:spPr>
          <a:xfrm>
            <a:off x="8247888" y="4873752"/>
            <a:ext cx="3191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Com rPPG estima-se o ritmo cardíaco a partir de variações de cor da pele, e a respiração a partir do movimento do tórax. Dá </a:t>
            </a:r>
            <a:r>
              <a:rPr lang="en-US" sz="1100" b="1" dirty="0">
                <a:solidFill>
                  <a:schemeClr val="tx1"/>
                </a:solidFill>
              </a:rPr>
              <a:t>redundância</a:t>
            </a:r>
            <a:r>
              <a:rPr lang="en-US" sz="1100" dirty="0">
                <a:solidFill>
                  <a:schemeClr val="tx1"/>
                </a:solidFill>
              </a:rPr>
              <a:t> com o sensor fisiológico (útil para a fusão e quando o sensor falha). Com câmara IR também se pode medir o diâmetro da pupila, ligado à carga cognitiva, embora seja difícil em condições reais.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67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6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69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</a:rPr>
              <a:t>PROBLEMAS · CÂMERA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Problemas da câmera</a:t>
            </a:r>
            <a:endParaRPr lang="en-US" sz="3200" dirty="0"/>
          </a:p>
        </p:txBody>
      </p:sp>
      <p:sp>
        <p:nvSpPr>
          <p:cNvPr id="6" name="card_70"/>
          <p:cNvSpPr/>
          <p:nvPr/>
        </p:nvSpPr>
        <p:spPr>
          <a:xfrm>
            <a:off x="548640" y="1600200"/>
            <a:ext cx="60350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71"/>
          <p:cNvSpPr/>
          <p:nvPr/>
        </p:nvSpPr>
        <p:spPr>
          <a:xfrm>
            <a:off x="731520" y="1755648"/>
            <a:ext cx="466344" cy="466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7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33" y="1881561"/>
            <a:ext cx="214518" cy="214518"/>
          </a:xfrm>
          <a:prstGeom prst="rect">
            <a:avLst/>
          </a:prstGeom>
        </p:spPr>
      </p:pic>
      <p:sp>
        <p:nvSpPr>
          <p:cNvPr id="9" name="pTxt_73"/>
          <p:cNvSpPr txBox="1"/>
          <p:nvPr/>
        </p:nvSpPr>
        <p:spPr>
          <a:xfrm>
            <a:off x="1371600" y="16002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Condições de luz extremas</a:t>
            </a:r>
            <a:endParaRPr lang="en-US" sz="1600" dirty="0"/>
          </a:p>
        </p:txBody>
      </p:sp>
      <p:sp>
        <p:nvSpPr>
          <p:cNvPr id="10" name="card_74"/>
          <p:cNvSpPr/>
          <p:nvPr/>
        </p:nvSpPr>
        <p:spPr>
          <a:xfrm>
            <a:off x="548640" y="2514600"/>
            <a:ext cx="60350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iconBg_75"/>
          <p:cNvSpPr/>
          <p:nvPr/>
        </p:nvSpPr>
        <p:spPr>
          <a:xfrm>
            <a:off x="731520" y="2670048"/>
            <a:ext cx="466344" cy="466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2" name="icon_7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33" y="2795961"/>
            <a:ext cx="214518" cy="214518"/>
          </a:xfrm>
          <a:prstGeom prst="rect">
            <a:avLst/>
          </a:prstGeom>
        </p:spPr>
      </p:pic>
      <p:sp>
        <p:nvSpPr>
          <p:cNvPr id="13" name="pTxt_77"/>
          <p:cNvSpPr txBox="1"/>
          <p:nvPr/>
        </p:nvSpPr>
        <p:spPr>
          <a:xfrm>
            <a:off x="1371600" y="25146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Motion blur</a:t>
            </a:r>
            <a:endParaRPr lang="en-US" sz="1600" dirty="0"/>
          </a:p>
        </p:txBody>
      </p:sp>
      <p:sp>
        <p:nvSpPr>
          <p:cNvPr id="14" name="card_78"/>
          <p:cNvSpPr/>
          <p:nvPr/>
        </p:nvSpPr>
        <p:spPr>
          <a:xfrm>
            <a:off x="548640" y="3429000"/>
            <a:ext cx="60350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iconBg_79"/>
          <p:cNvSpPr/>
          <p:nvPr/>
        </p:nvSpPr>
        <p:spPr>
          <a:xfrm>
            <a:off x="731520" y="3584448"/>
            <a:ext cx="466344" cy="466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6" name="icon_8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33" y="3710361"/>
            <a:ext cx="214518" cy="214518"/>
          </a:xfrm>
          <a:prstGeom prst="rect">
            <a:avLst/>
          </a:prstGeom>
        </p:spPr>
      </p:pic>
      <p:sp>
        <p:nvSpPr>
          <p:cNvPr id="17" name="pTxt_81"/>
          <p:cNvSpPr txBox="1"/>
          <p:nvPr/>
        </p:nvSpPr>
        <p:spPr>
          <a:xfrm>
            <a:off x="1371600" y="34290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Utilização de óculos e reflexo nas lentes</a:t>
            </a:r>
            <a:endParaRPr lang="en-US" sz="1600" dirty="0"/>
          </a:p>
        </p:txBody>
      </p:sp>
      <p:sp>
        <p:nvSpPr>
          <p:cNvPr id="18" name="card_82"/>
          <p:cNvSpPr/>
          <p:nvPr/>
        </p:nvSpPr>
        <p:spPr>
          <a:xfrm>
            <a:off x="548640" y="4343400"/>
            <a:ext cx="60350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iconBg_83"/>
          <p:cNvSpPr/>
          <p:nvPr/>
        </p:nvSpPr>
        <p:spPr>
          <a:xfrm>
            <a:off x="731520" y="4498848"/>
            <a:ext cx="466344" cy="466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0" name="icon_8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433" y="4624761"/>
            <a:ext cx="214518" cy="214518"/>
          </a:xfrm>
          <a:prstGeom prst="rect">
            <a:avLst/>
          </a:prstGeom>
        </p:spPr>
      </p:pic>
      <p:sp>
        <p:nvSpPr>
          <p:cNvPr id="21" name="pTxt_85"/>
          <p:cNvSpPr txBox="1"/>
          <p:nvPr/>
        </p:nvSpPr>
        <p:spPr>
          <a:xfrm>
            <a:off x="1371600" y="43434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Ângulo da câmera do condutor</a:t>
            </a:r>
            <a:endParaRPr lang="en-US" sz="1600" dirty="0"/>
          </a:p>
        </p:txBody>
      </p:sp>
      <p:sp>
        <p:nvSpPr>
          <p:cNvPr id="22" name="card_86"/>
          <p:cNvSpPr/>
          <p:nvPr/>
        </p:nvSpPr>
        <p:spPr>
          <a:xfrm>
            <a:off x="548640" y="5257800"/>
            <a:ext cx="60350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iconBg_87"/>
          <p:cNvSpPr/>
          <p:nvPr/>
        </p:nvSpPr>
        <p:spPr>
          <a:xfrm>
            <a:off x="731520" y="5413248"/>
            <a:ext cx="466344" cy="466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4" name="icon_8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433" y="5539161"/>
            <a:ext cx="214518" cy="214518"/>
          </a:xfrm>
          <a:prstGeom prst="rect">
            <a:avLst/>
          </a:prstGeom>
        </p:spPr>
      </p:pic>
      <p:sp>
        <p:nvSpPr>
          <p:cNvPr id="25" name="pTxt_89"/>
          <p:cNvSpPr txBox="1"/>
          <p:nvPr/>
        </p:nvSpPr>
        <p:spPr>
          <a:xfrm>
            <a:off x="1371600" y="5312664"/>
            <a:ext cx="5074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Ângulo da cabeça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Uma câmera a meio do painel não consegue tirar informação de quem está a olhar pela janela</a:t>
            </a:r>
            <a:endParaRPr lang="en-US" sz="1600" dirty="0"/>
          </a:p>
        </p:txBody>
      </p:sp>
      <p:sp>
        <p:nvSpPr>
          <p:cNvPr id="26" name="card_90"/>
          <p:cNvSpPr/>
          <p:nvPr/>
        </p:nvSpPr>
        <p:spPr>
          <a:xfrm>
            <a:off x="6858000" y="1600200"/>
            <a:ext cx="4782312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27" name="camDiagram" descr="Diagrama de dependências da câmer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2360" y="1737360"/>
            <a:ext cx="3533592" cy="4160520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91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9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93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94A"/>
                </a:solidFill>
              </a:rPr>
              <a:t>MODALIDADE 2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Voz</a:t>
            </a:r>
            <a:endParaRPr lang="en-US" sz="3200" dirty="0"/>
          </a:p>
        </p:txBody>
      </p:sp>
      <p:sp>
        <p:nvSpPr>
          <p:cNvPr id="6" name="card_94"/>
          <p:cNvSpPr/>
          <p:nvPr/>
        </p:nvSpPr>
        <p:spPr>
          <a:xfrm>
            <a:off x="548640" y="1600200"/>
            <a:ext cx="542239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95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9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2" y="2047342"/>
            <a:ext cx="294437" cy="294437"/>
          </a:xfrm>
          <a:prstGeom prst="rect">
            <a:avLst/>
          </a:prstGeom>
        </p:spPr>
      </p:pic>
      <p:sp>
        <p:nvSpPr>
          <p:cNvPr id="9" name="vT_97"/>
          <p:cNvSpPr txBox="1"/>
          <p:nvPr/>
        </p:nvSpPr>
        <p:spPr>
          <a:xfrm>
            <a:off x="1691640" y="18288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Emoção pela voz</a:t>
            </a:r>
            <a:endParaRPr lang="en-US" sz="1800" dirty="0"/>
          </a:p>
        </p:txBody>
      </p:sp>
      <p:sp>
        <p:nvSpPr>
          <p:cNvPr id="10" name="body_98"/>
          <p:cNvSpPr txBox="1"/>
          <p:nvPr/>
        </p:nvSpPr>
        <p:spPr>
          <a:xfrm>
            <a:off x="1691640" y="224028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É preferível modelar </a:t>
            </a:r>
            <a:r>
              <a:rPr lang="en-US" sz="1400" i="1" dirty="0">
                <a:solidFill>
                  <a:schemeClr val="tx1"/>
                </a:solidFill>
              </a:rPr>
              <a:t>arousal</a:t>
            </a:r>
            <a:r>
              <a:rPr lang="en-US" sz="1400" dirty="0">
                <a:solidFill>
                  <a:schemeClr val="tx1"/>
                </a:solidFill>
              </a:rPr>
              <a:t> e </a:t>
            </a:r>
            <a:r>
              <a:rPr lang="en-US" sz="1400" i="1" dirty="0">
                <a:solidFill>
                  <a:schemeClr val="tx1"/>
                </a:solidFill>
              </a:rPr>
              <a:t>valence</a:t>
            </a:r>
            <a:r>
              <a:rPr lang="en-US" sz="1400" dirty="0">
                <a:solidFill>
                  <a:schemeClr val="tx1"/>
                </a:solidFill>
              </a:rPr>
              <a:t> em vez de categorias discretas, que funcionam mal em condução real.</a:t>
            </a:r>
            <a:endParaRPr lang="en-US" sz="1400" dirty="0"/>
          </a:p>
        </p:txBody>
      </p:sp>
      <p:sp>
        <p:nvSpPr>
          <p:cNvPr id="11" name="card_99"/>
          <p:cNvSpPr/>
          <p:nvPr/>
        </p:nvSpPr>
        <p:spPr>
          <a:xfrm>
            <a:off x="6217920" y="1600200"/>
            <a:ext cx="542239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iconBg_100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3" name="icon_10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062" y="2047342"/>
            <a:ext cx="294437" cy="294437"/>
          </a:xfrm>
          <a:prstGeom prst="rect">
            <a:avLst/>
          </a:prstGeom>
        </p:spPr>
      </p:pic>
      <p:sp>
        <p:nvSpPr>
          <p:cNvPr id="14" name="vT_102"/>
          <p:cNvSpPr txBox="1"/>
          <p:nvPr/>
        </p:nvSpPr>
        <p:spPr>
          <a:xfrm>
            <a:off x="7360920" y="18288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Fadiga pela voz</a:t>
            </a:r>
            <a:endParaRPr lang="en-US" sz="1800" dirty="0"/>
          </a:p>
        </p:txBody>
      </p:sp>
      <p:sp>
        <p:nvSpPr>
          <p:cNvPr id="15" name="body_103"/>
          <p:cNvSpPr txBox="1"/>
          <p:nvPr/>
        </p:nvSpPr>
        <p:spPr>
          <a:xfrm>
            <a:off x="7360920" y="224028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Fala mais lenta, menor variação de F0 e alterações prosódicas.</a:t>
            </a:r>
            <a:endParaRPr lang="en-US" sz="1400" dirty="0"/>
          </a:p>
        </p:txBody>
      </p:sp>
      <p:sp>
        <p:nvSpPr>
          <p:cNvPr id="16" name="card_104"/>
          <p:cNvSpPr/>
          <p:nvPr/>
        </p:nvSpPr>
        <p:spPr>
          <a:xfrm>
            <a:off x="548640" y="3246120"/>
            <a:ext cx="542239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iconBg_105"/>
          <p:cNvSpPr/>
          <p:nvPr/>
        </p:nvSpPr>
        <p:spPr>
          <a:xfrm>
            <a:off x="822960" y="3520440"/>
            <a:ext cx="640080" cy="64008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con_10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782" y="3693262"/>
            <a:ext cx="294437" cy="294437"/>
          </a:xfrm>
          <a:prstGeom prst="rect">
            <a:avLst/>
          </a:prstGeom>
        </p:spPr>
      </p:pic>
      <p:sp>
        <p:nvSpPr>
          <p:cNvPr id="19" name="vT_107"/>
          <p:cNvSpPr txBox="1"/>
          <p:nvPr/>
        </p:nvSpPr>
        <p:spPr>
          <a:xfrm>
            <a:off x="1691640" y="347472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Distração cognitiva</a:t>
            </a:r>
            <a:endParaRPr lang="en-US" sz="1800" dirty="0"/>
          </a:p>
        </p:txBody>
      </p:sp>
      <p:sp>
        <p:nvSpPr>
          <p:cNvPr id="20" name="body_108"/>
          <p:cNvSpPr txBox="1"/>
          <p:nvPr/>
        </p:nvSpPr>
        <p:spPr>
          <a:xfrm>
            <a:off x="1691640" y="388620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Deteção de conversa, chamadas telefónicas e interação com passageiros.</a:t>
            </a:r>
            <a:endParaRPr lang="en-US" sz="1400" dirty="0"/>
          </a:p>
        </p:txBody>
      </p:sp>
      <p:sp>
        <p:nvSpPr>
          <p:cNvPr id="21" name="card_109"/>
          <p:cNvSpPr/>
          <p:nvPr/>
        </p:nvSpPr>
        <p:spPr>
          <a:xfrm>
            <a:off x="6217920" y="3246120"/>
            <a:ext cx="542239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iconBg_110"/>
          <p:cNvSpPr/>
          <p:nvPr/>
        </p:nvSpPr>
        <p:spPr>
          <a:xfrm>
            <a:off x="6492240" y="3520440"/>
            <a:ext cx="640080" cy="64008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3" name="icon_1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062" y="3693262"/>
            <a:ext cx="294437" cy="294437"/>
          </a:xfrm>
          <a:prstGeom prst="rect">
            <a:avLst/>
          </a:prstGeom>
        </p:spPr>
      </p:pic>
      <p:sp>
        <p:nvSpPr>
          <p:cNvPr id="24" name="vT_112"/>
          <p:cNvSpPr txBox="1"/>
          <p:nvPr/>
        </p:nvSpPr>
        <p:spPr>
          <a:xfrm>
            <a:off x="7360920" y="347472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Contexto da cabine</a:t>
            </a:r>
            <a:endParaRPr lang="en-US" sz="1800" dirty="0"/>
          </a:p>
        </p:txBody>
      </p:sp>
      <p:sp>
        <p:nvSpPr>
          <p:cNvPr id="25" name="body_113"/>
          <p:cNvSpPr txBox="1"/>
          <p:nvPr/>
        </p:nvSpPr>
        <p:spPr>
          <a:xfrm>
            <a:off x="7360920" y="388620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Nível de ruído, música, crianças a chorar e bocejos audíveis.</a:t>
            </a:r>
            <a:endParaRPr lang="en-US" sz="1400" dirty="0"/>
          </a:p>
        </p:txBody>
      </p:sp>
      <p:sp>
        <p:nvSpPr>
          <p:cNvPr id="26" name="limitsBg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iconBg_114"/>
          <p:cNvSpPr/>
          <p:nvPr/>
        </p:nvSpPr>
        <p:spPr>
          <a:xfrm>
            <a:off x="822960" y="5257800"/>
            <a:ext cx="594360" cy="5943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8" name="icon_1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437" y="5418277"/>
            <a:ext cx="273406" cy="273406"/>
          </a:xfrm>
          <a:prstGeom prst="rect">
            <a:avLst/>
          </a:prstGeom>
        </p:spPr>
      </p:pic>
      <p:sp>
        <p:nvSpPr>
          <p:cNvPr id="29" name="limitsTxt"/>
          <p:cNvSpPr txBox="1"/>
          <p:nvPr/>
        </p:nvSpPr>
        <p:spPr>
          <a:xfrm>
            <a:off x="1645920" y="5074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00"/>
                </a:solidFill>
              </a:rPr>
              <a:t>Limitações  </a:t>
            </a:r>
            <a:r>
              <a:rPr lang="en-US" sz="1500" dirty="0">
                <a:solidFill>
                  <a:schemeClr val="bg1"/>
                </a:solidFill>
              </a:rPr>
              <a:t>Só funciona quando há fala, é preciso separar quem está a falar (condutor ou passageiro) e há questões de privacidade.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116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1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118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94A"/>
                </a:solidFill>
              </a:rPr>
              <a:t>PROBLEMAS · VOZ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Problemas da voz</a:t>
            </a:r>
            <a:endParaRPr lang="en-US" sz="3200" dirty="0"/>
          </a:p>
        </p:txBody>
      </p:sp>
      <p:sp>
        <p:nvSpPr>
          <p:cNvPr id="6" name="card_119"/>
          <p:cNvSpPr/>
          <p:nvPr/>
        </p:nvSpPr>
        <p:spPr>
          <a:xfrm>
            <a:off x="548640" y="1600200"/>
            <a:ext cx="51206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120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1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" y="2059686"/>
            <a:ext cx="315468" cy="315468"/>
          </a:xfrm>
          <a:prstGeom prst="rect">
            <a:avLst/>
          </a:prstGeom>
        </p:spPr>
      </p:pic>
      <p:sp>
        <p:nvSpPr>
          <p:cNvPr id="9" name="vp_122"/>
          <p:cNvSpPr txBox="1"/>
          <p:nvPr/>
        </p:nvSpPr>
        <p:spPr>
          <a:xfrm>
            <a:off x="1783080" y="16002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Ruído</a:t>
            </a:r>
            <a:endParaRPr lang="en-US" sz="2000" dirty="0"/>
          </a:p>
        </p:txBody>
      </p:sp>
      <p:sp>
        <p:nvSpPr>
          <p:cNvPr id="10" name="card_123"/>
          <p:cNvSpPr/>
          <p:nvPr/>
        </p:nvSpPr>
        <p:spPr>
          <a:xfrm>
            <a:off x="548640" y="3063240"/>
            <a:ext cx="51206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iconBg_124"/>
          <p:cNvSpPr/>
          <p:nvPr/>
        </p:nvSpPr>
        <p:spPr>
          <a:xfrm>
            <a:off x="822960" y="3337560"/>
            <a:ext cx="685800" cy="68580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2" name="icon_12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26" y="3522726"/>
            <a:ext cx="315468" cy="315468"/>
          </a:xfrm>
          <a:prstGeom prst="rect">
            <a:avLst/>
          </a:prstGeom>
        </p:spPr>
      </p:pic>
      <p:sp>
        <p:nvSpPr>
          <p:cNvPr id="13" name="vp_126"/>
          <p:cNvSpPr txBox="1"/>
          <p:nvPr/>
        </p:nvSpPr>
        <p:spPr>
          <a:xfrm>
            <a:off x="1783080" y="30632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Muito tempo sem dados úteis</a:t>
            </a:r>
            <a:endParaRPr lang="en-US" sz="2000" dirty="0"/>
          </a:p>
        </p:txBody>
      </p:sp>
      <p:sp>
        <p:nvSpPr>
          <p:cNvPr id="14" name="card_127"/>
          <p:cNvSpPr/>
          <p:nvPr/>
        </p:nvSpPr>
        <p:spPr>
          <a:xfrm>
            <a:off x="548640" y="4526280"/>
            <a:ext cx="51206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iconBg_128"/>
          <p:cNvSpPr/>
          <p:nvPr/>
        </p:nvSpPr>
        <p:spPr>
          <a:xfrm>
            <a:off x="822960" y="4800600"/>
            <a:ext cx="685800" cy="685800"/>
          </a:xfrm>
          <a:prstGeom prst="ellipse">
            <a:avLst/>
          </a:prstGeom>
          <a:solidFill>
            <a:srgbClr val="F2694A"/>
          </a:solidFill>
          <a:ln w="12700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6" name="icon_12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126" y="4985766"/>
            <a:ext cx="315468" cy="315468"/>
          </a:xfrm>
          <a:prstGeom prst="rect">
            <a:avLst/>
          </a:prstGeom>
        </p:spPr>
      </p:pic>
      <p:sp>
        <p:nvSpPr>
          <p:cNvPr id="17" name="vp_130"/>
          <p:cNvSpPr txBox="1"/>
          <p:nvPr/>
        </p:nvSpPr>
        <p:spPr>
          <a:xfrm>
            <a:off x="1783080" y="45262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Mistura de vozes</a:t>
            </a:r>
            <a:endParaRPr lang="en-US" sz="2000" dirty="0"/>
          </a:p>
        </p:txBody>
      </p:sp>
      <p:sp>
        <p:nvSpPr>
          <p:cNvPr id="18" name="qBg"/>
          <p:cNvSpPr/>
          <p:nvPr/>
        </p:nvSpPr>
        <p:spPr>
          <a:xfrm>
            <a:off x="5943600" y="1600200"/>
            <a:ext cx="5696712" cy="4160520"/>
          </a:xfrm>
          <a:prstGeom prst="roundRect">
            <a:avLst>
              <a:gd name="adj" fmla="val 3297"/>
            </a:avLst>
          </a:prstGeom>
          <a:solidFill>
            <a:schemeClr val="tx1"/>
          </a:solidFill>
          <a:ln w="12700">
            <a:solidFill>
              <a:srgbClr val="0F1B2D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19" name="q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011680"/>
            <a:ext cx="685800" cy="685800"/>
          </a:xfrm>
          <a:prstGeom prst="rect">
            <a:avLst/>
          </a:prstGeom>
        </p:spPr>
      </p:pic>
      <p:sp>
        <p:nvSpPr>
          <p:cNvPr id="20" name="qLabel"/>
          <p:cNvSpPr txBox="1"/>
          <p:nvPr/>
        </p:nvSpPr>
        <p:spPr>
          <a:xfrm>
            <a:off x="63550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PERGUNTA</a:t>
            </a:r>
            <a:endParaRPr lang="en-US" sz="1300" dirty="0"/>
          </a:p>
        </p:txBody>
      </p:sp>
      <p:sp>
        <p:nvSpPr>
          <p:cNvPr id="21" name="qText"/>
          <p:cNvSpPr txBox="1"/>
          <p:nvPr/>
        </p:nvSpPr>
        <p:spPr>
          <a:xfrm>
            <a:off x="6355080" y="3246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É </a:t>
            </a:r>
            <a:r>
              <a:rPr lang="en-US" sz="2800" b="1" dirty="0" err="1">
                <a:solidFill>
                  <a:schemeClr val="bg1"/>
                </a:solidFill>
              </a:rPr>
              <a:t>esperado</a:t>
            </a:r>
            <a:r>
              <a:rPr lang="en-US" sz="2800" b="1" dirty="0">
                <a:solidFill>
                  <a:schemeClr val="bg1"/>
                </a:solidFill>
              </a:rPr>
              <a:t> o </a:t>
            </a:r>
            <a:r>
              <a:rPr lang="en-US" sz="2800" b="1" dirty="0" err="1">
                <a:solidFill>
                  <a:schemeClr val="bg1"/>
                </a:solidFill>
              </a:rPr>
              <a:t>uso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>
                <a:solidFill>
                  <a:schemeClr val="bg1"/>
                </a:solidFill>
              </a:rPr>
              <a:t>de Speech-Text?</a:t>
            </a:r>
            <a:endParaRPr lang="en-US" sz="2800" dirty="0"/>
          </a:p>
        </p:txBody>
      </p:sp>
      <p:sp>
        <p:nvSpPr>
          <p:cNvPr id="22" name="qSub"/>
          <p:cNvSpPr txBox="1"/>
          <p:nvPr/>
        </p:nvSpPr>
        <p:spPr>
          <a:xfrm>
            <a:off x="6355080" y="4572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9D2E0"/>
                </a:solidFill>
              </a:rPr>
              <a:t>(Acredito ser pior)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131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13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133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3F72"/>
                </a:solidFill>
              </a:rPr>
              <a:t>MODALIDADE 3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Sensores fisiológicos</a:t>
            </a:r>
            <a:endParaRPr lang="en-US" sz="3200" dirty="0"/>
          </a:p>
        </p:txBody>
      </p:sp>
      <p:sp>
        <p:nvSpPr>
          <p:cNvPr id="6" name="card_134"/>
          <p:cNvSpPr/>
          <p:nvPr/>
        </p:nvSpPr>
        <p:spPr>
          <a:xfrm>
            <a:off x="548640" y="1600200"/>
            <a:ext cx="6675120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135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13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072030"/>
            <a:ext cx="336499" cy="336499"/>
          </a:xfrm>
          <a:prstGeom prst="rect">
            <a:avLst/>
          </a:prstGeom>
        </p:spPr>
      </p:pic>
      <p:sp>
        <p:nvSpPr>
          <p:cNvPr id="9" name="hrT"/>
          <p:cNvSpPr txBox="1"/>
          <p:nvPr/>
        </p:nvSpPr>
        <p:spPr>
          <a:xfrm>
            <a:off x="182880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Ritmo cardíaco</a:t>
            </a:r>
            <a:endParaRPr lang="en-US" sz="2200" dirty="0"/>
          </a:p>
        </p:txBody>
      </p:sp>
      <p:sp>
        <p:nvSpPr>
          <p:cNvPr id="10" name="body_137"/>
          <p:cNvSpPr txBox="1"/>
          <p:nvPr/>
        </p:nvSpPr>
        <p:spPr>
          <a:xfrm>
            <a:off x="868680" y="28346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mais valioso não é o BPM médio, mas a </a:t>
            </a:r>
            <a:r>
              <a:rPr lang="en-US" sz="1500" b="1" dirty="0">
                <a:solidFill>
                  <a:schemeClr val="tx1"/>
                </a:solidFill>
              </a:rPr>
              <a:t>variabilidade cardíaca (HRV)</a:t>
            </a:r>
            <a:r>
              <a:rPr lang="en-US" sz="1500" dirty="0">
                <a:solidFill>
                  <a:schemeClr val="tx1"/>
                </a:solidFill>
              </a:rPr>
              <a:t>. A HRV é dos melhores indicadores de sonolência (aumento da atividade parassimpática), stress e carga mental. Do mesmo sinal PPG também se estima a frequência respiratória.</a:t>
            </a:r>
            <a:endParaRPr lang="en-US" sz="1500" dirty="0"/>
          </a:p>
        </p:txBody>
      </p:sp>
      <p:sp>
        <p:nvSpPr>
          <p:cNvPr id="11" name="mBg_138"/>
          <p:cNvSpPr/>
          <p:nvPr/>
        </p:nvSpPr>
        <p:spPr>
          <a:xfrm>
            <a:off x="868680" y="46177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BE7EE"/>
          </a:solidFill>
          <a:ln w="12700">
            <a:solidFill>
              <a:srgbClr val="FBE7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mTxt_139"/>
          <p:cNvSpPr txBox="1"/>
          <p:nvPr/>
        </p:nvSpPr>
        <p:spPr>
          <a:xfrm>
            <a:off x="868680" y="4617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3F72"/>
                </a:solidFill>
              </a:rPr>
              <a:t>SDNN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domínio do tempo</a:t>
            </a:r>
            <a:endParaRPr lang="en-US" sz="2200" dirty="0"/>
          </a:p>
        </p:txBody>
      </p:sp>
      <p:sp>
        <p:nvSpPr>
          <p:cNvPr id="13" name="mBg_140"/>
          <p:cNvSpPr/>
          <p:nvPr/>
        </p:nvSpPr>
        <p:spPr>
          <a:xfrm>
            <a:off x="2926080" y="46177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BE7EE"/>
          </a:solidFill>
          <a:ln w="12700">
            <a:solidFill>
              <a:srgbClr val="FBE7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mTxt_141"/>
          <p:cNvSpPr txBox="1"/>
          <p:nvPr/>
        </p:nvSpPr>
        <p:spPr>
          <a:xfrm>
            <a:off x="2926080" y="4617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3F72"/>
                </a:solidFill>
              </a:rPr>
              <a:t>RMSSD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domínio do tempo</a:t>
            </a:r>
            <a:endParaRPr lang="en-US" sz="2200" dirty="0"/>
          </a:p>
        </p:txBody>
      </p:sp>
      <p:sp>
        <p:nvSpPr>
          <p:cNvPr id="15" name="mBg_142"/>
          <p:cNvSpPr/>
          <p:nvPr/>
        </p:nvSpPr>
        <p:spPr>
          <a:xfrm>
            <a:off x="4983480" y="46177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BE7EE"/>
          </a:solidFill>
          <a:ln w="12700">
            <a:solidFill>
              <a:srgbClr val="FBE7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mTxt_143"/>
          <p:cNvSpPr txBox="1"/>
          <p:nvPr/>
        </p:nvSpPr>
        <p:spPr>
          <a:xfrm>
            <a:off x="4983480" y="4617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3F72"/>
                </a:solidFill>
              </a:rPr>
              <a:t>LF/HF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domínio do frequência</a:t>
            </a:r>
            <a:endParaRPr lang="en-US" sz="2200" dirty="0"/>
          </a:p>
        </p:txBody>
      </p:sp>
      <p:sp>
        <p:nvSpPr>
          <p:cNvPr id="17" name="card_144"/>
          <p:cNvSpPr/>
          <p:nvPr/>
        </p:nvSpPr>
        <p:spPr>
          <a:xfrm>
            <a:off x="7498080" y="1600200"/>
            <a:ext cx="4142232" cy="4434840"/>
          </a:xfrm>
          <a:prstGeom prst="roundRect">
            <a:avLst>
              <a:gd name="adj" fmla="val 2649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iconBg_145"/>
          <p:cNvSpPr/>
          <p:nvPr/>
        </p:nvSpPr>
        <p:spPr>
          <a:xfrm>
            <a:off x="7818120" y="1874520"/>
            <a:ext cx="731520" cy="73152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9" name="icon_14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630" y="2072030"/>
            <a:ext cx="336499" cy="336499"/>
          </a:xfrm>
          <a:prstGeom prst="rect">
            <a:avLst/>
          </a:prstGeom>
        </p:spPr>
      </p:pic>
      <p:sp>
        <p:nvSpPr>
          <p:cNvPr id="20" name="bpT"/>
          <p:cNvSpPr txBox="1"/>
          <p:nvPr/>
        </p:nvSpPr>
        <p:spPr>
          <a:xfrm>
            <a:off x="781812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Pressão arterial</a:t>
            </a:r>
            <a:endParaRPr lang="en-US" sz="2200" dirty="0"/>
          </a:p>
        </p:txBody>
      </p:sp>
      <p:sp>
        <p:nvSpPr>
          <p:cNvPr id="21" name="body_147"/>
          <p:cNvSpPr txBox="1"/>
          <p:nvPr/>
        </p:nvSpPr>
        <p:spPr>
          <a:xfrm>
            <a:off x="7818120" y="33832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medição contínua e não intrusiva é difícil. Normalmente é estimada (por exemplo, a partir do PTT) e com pouca fiabilidade. Serve sobretudo como indicador de </a:t>
            </a:r>
            <a:r>
              <a:rPr lang="en-US" sz="1500" b="1" dirty="0">
                <a:solidFill>
                  <a:schemeClr val="tx1"/>
                </a:solidFill>
              </a:rPr>
              <a:t>ativação ou stress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148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14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150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3F72"/>
                </a:solidFill>
              </a:rPr>
              <a:t>PROBLEMAS · SENSORES FISIOLÓGICOS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Problemas dos sensores fisiológicos</a:t>
            </a:r>
            <a:endParaRPr lang="en-US" sz="3200" dirty="0"/>
          </a:p>
        </p:txBody>
      </p:sp>
      <p:sp>
        <p:nvSpPr>
          <p:cNvPr id="6" name="card_151"/>
          <p:cNvSpPr/>
          <p:nvPr/>
        </p:nvSpPr>
        <p:spPr>
          <a:xfrm>
            <a:off x="548640" y="1600200"/>
            <a:ext cx="54223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152"/>
          <p:cNvSpPr/>
          <p:nvPr/>
        </p:nvSpPr>
        <p:spPr>
          <a:xfrm>
            <a:off x="914400" y="1965960"/>
            <a:ext cx="777240" cy="77724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15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55" y="2175815"/>
            <a:ext cx="357530" cy="357530"/>
          </a:xfrm>
          <a:prstGeom prst="rect">
            <a:avLst/>
          </a:prstGeom>
        </p:spPr>
      </p:pic>
      <p:sp>
        <p:nvSpPr>
          <p:cNvPr id="9" name="fpT_154"/>
          <p:cNvSpPr txBox="1"/>
          <p:nvPr/>
        </p:nvSpPr>
        <p:spPr>
          <a:xfrm>
            <a:off x="1965960" y="196596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Artefactos de movimento</a:t>
            </a:r>
            <a:endParaRPr lang="en-US" sz="2000" dirty="0"/>
          </a:p>
        </p:txBody>
      </p:sp>
      <p:sp>
        <p:nvSpPr>
          <p:cNvPr id="10" name="body_155"/>
          <p:cNvSpPr txBox="1"/>
          <p:nvPr/>
        </p:nvSpPr>
        <p:spPr>
          <a:xfrm>
            <a:off x="1965960" y="2606040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Movimento do condutor e vibração do veículo.</a:t>
            </a:r>
            <a:endParaRPr lang="en-US" sz="1500" dirty="0"/>
          </a:p>
        </p:txBody>
      </p:sp>
      <p:sp>
        <p:nvSpPr>
          <p:cNvPr id="11" name="card_156"/>
          <p:cNvSpPr/>
          <p:nvPr/>
        </p:nvSpPr>
        <p:spPr>
          <a:xfrm>
            <a:off x="6217920" y="1600200"/>
            <a:ext cx="54223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iconBg_157"/>
          <p:cNvSpPr/>
          <p:nvPr/>
        </p:nvSpPr>
        <p:spPr>
          <a:xfrm>
            <a:off x="6583680" y="1965960"/>
            <a:ext cx="777240" cy="77724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3" name="icon_15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535" y="2175815"/>
            <a:ext cx="357530" cy="357530"/>
          </a:xfrm>
          <a:prstGeom prst="rect">
            <a:avLst/>
          </a:prstGeom>
        </p:spPr>
      </p:pic>
      <p:sp>
        <p:nvSpPr>
          <p:cNvPr id="14" name="fpT_159"/>
          <p:cNvSpPr txBox="1"/>
          <p:nvPr/>
        </p:nvSpPr>
        <p:spPr>
          <a:xfrm>
            <a:off x="7635240" y="196596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Confundidores externos</a:t>
            </a:r>
            <a:endParaRPr lang="en-US" sz="2000" dirty="0"/>
          </a:p>
        </p:txBody>
      </p:sp>
      <p:sp>
        <p:nvSpPr>
          <p:cNvPr id="15" name="body_160"/>
          <p:cNvSpPr txBox="1"/>
          <p:nvPr/>
        </p:nvSpPr>
        <p:spPr>
          <a:xfrm>
            <a:off x="7635240" y="2606040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Cafeína, exercício recente, temperatura do habitáculo.</a:t>
            </a:r>
            <a:endParaRPr lang="en-US" sz="1500" dirty="0"/>
          </a:p>
        </p:txBody>
      </p:sp>
      <p:sp>
        <p:nvSpPr>
          <p:cNvPr id="16" name="card_161"/>
          <p:cNvSpPr/>
          <p:nvPr/>
        </p:nvSpPr>
        <p:spPr>
          <a:xfrm>
            <a:off x="548640" y="3886200"/>
            <a:ext cx="54223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iconBg_162"/>
          <p:cNvSpPr/>
          <p:nvPr/>
        </p:nvSpPr>
        <p:spPr>
          <a:xfrm>
            <a:off x="914400" y="4251960"/>
            <a:ext cx="777240" cy="77724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con_16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255" y="4461815"/>
            <a:ext cx="357530" cy="357530"/>
          </a:xfrm>
          <a:prstGeom prst="rect">
            <a:avLst/>
          </a:prstGeom>
        </p:spPr>
      </p:pic>
      <p:sp>
        <p:nvSpPr>
          <p:cNvPr id="19" name="fpT_164"/>
          <p:cNvSpPr txBox="1"/>
          <p:nvPr/>
        </p:nvSpPr>
        <p:spPr>
          <a:xfrm>
            <a:off x="1965960" y="425196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Atraso</a:t>
            </a:r>
            <a:endParaRPr lang="en-US" sz="2000" dirty="0"/>
          </a:p>
        </p:txBody>
      </p:sp>
      <p:sp>
        <p:nvSpPr>
          <p:cNvPr id="20" name="body_165"/>
          <p:cNvSpPr txBox="1"/>
          <p:nvPr/>
        </p:nvSpPr>
        <p:spPr>
          <a:xfrm>
            <a:off x="1965960" y="4892040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Entre a alteração fisiológica e o estado observável.</a:t>
            </a:r>
            <a:endParaRPr lang="en-US" sz="1500" dirty="0"/>
          </a:p>
        </p:txBody>
      </p:sp>
      <p:sp>
        <p:nvSpPr>
          <p:cNvPr id="21" name="card_166"/>
          <p:cNvSpPr/>
          <p:nvPr/>
        </p:nvSpPr>
        <p:spPr>
          <a:xfrm>
            <a:off x="6217920" y="3886200"/>
            <a:ext cx="54223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iconBg_167"/>
          <p:cNvSpPr/>
          <p:nvPr/>
        </p:nvSpPr>
        <p:spPr>
          <a:xfrm>
            <a:off x="6583680" y="4251960"/>
            <a:ext cx="777240" cy="777240"/>
          </a:xfrm>
          <a:prstGeom prst="ellipse">
            <a:avLst/>
          </a:prstGeom>
          <a:solidFill>
            <a:srgbClr val="D63F72"/>
          </a:solidFill>
          <a:ln w="12700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3" name="icon_16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535" y="4461815"/>
            <a:ext cx="357530" cy="357530"/>
          </a:xfrm>
          <a:prstGeom prst="rect">
            <a:avLst/>
          </a:prstGeom>
        </p:spPr>
      </p:pic>
      <p:sp>
        <p:nvSpPr>
          <p:cNvPr id="24" name="fpT_169"/>
          <p:cNvSpPr txBox="1"/>
          <p:nvPr/>
        </p:nvSpPr>
        <p:spPr>
          <a:xfrm>
            <a:off x="7635240" y="425196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Falta de ground truth fiável</a:t>
            </a:r>
            <a:endParaRPr lang="en-US" sz="2000" dirty="0"/>
          </a:p>
        </p:txBody>
      </p:sp>
      <p:sp>
        <p:nvSpPr>
          <p:cNvPr id="25" name="body_170"/>
          <p:cNvSpPr txBox="1"/>
          <p:nvPr/>
        </p:nvSpPr>
        <p:spPr>
          <a:xfrm>
            <a:off x="7635240" y="4892040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Nos datasets públicos.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171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3E7BEA"/>
          </a:solidFill>
          <a:ln w="12700">
            <a:solidFill>
              <a:srgbClr val="3E7BE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17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173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BEA"/>
                </a:solidFill>
              </a:rPr>
              <a:t>RESTRIÇÕES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Restrições</a:t>
            </a:r>
            <a:endParaRPr lang="en-US" sz="3200" dirty="0"/>
          </a:p>
        </p:txBody>
      </p:sp>
      <p:sp>
        <p:nvSpPr>
          <p:cNvPr id="6" name="card_174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iconBg_175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3E7BEA"/>
          </a:solidFill>
          <a:ln w="12700">
            <a:solidFill>
              <a:srgbClr val="3E7BE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8" name="icon_17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977" y="2511857"/>
            <a:ext cx="462686" cy="462686"/>
          </a:xfrm>
          <a:prstGeom prst="rect">
            <a:avLst/>
          </a:prstGeom>
        </p:spPr>
      </p:pic>
      <p:sp>
        <p:nvSpPr>
          <p:cNvPr id="9" name="rn_177"/>
          <p:cNvSpPr txBox="1"/>
          <p:nvPr/>
        </p:nvSpPr>
        <p:spPr>
          <a:xfrm>
            <a:off x="28803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5DEEC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rT_178"/>
          <p:cNvSpPr txBox="1"/>
          <p:nvPr/>
        </p:nvSpPr>
        <p:spPr>
          <a:xfrm>
            <a:off x="914400" y="356616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F1B2D"/>
                </a:solidFill>
              </a:rPr>
              <a:t>Sincronização dos dados</a:t>
            </a:r>
            <a:endParaRPr lang="en-US" sz="2200" dirty="0"/>
          </a:p>
        </p:txBody>
      </p:sp>
      <p:sp>
        <p:nvSpPr>
          <p:cNvPr id="11" name="card_179"/>
          <p:cNvSpPr/>
          <p:nvPr/>
        </p:nvSpPr>
        <p:spPr>
          <a:xfrm>
            <a:off x="4334256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iconBg_180"/>
          <p:cNvSpPr/>
          <p:nvPr/>
        </p:nvSpPr>
        <p:spPr>
          <a:xfrm>
            <a:off x="4700016" y="2240280"/>
            <a:ext cx="1005840" cy="1005840"/>
          </a:xfrm>
          <a:prstGeom prst="ellipse">
            <a:avLst/>
          </a:prstGeom>
          <a:solidFill>
            <a:srgbClr val="3E7BEA"/>
          </a:solidFill>
          <a:ln w="12700">
            <a:solidFill>
              <a:srgbClr val="3E7BE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3" name="icon_18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593" y="2511857"/>
            <a:ext cx="462686" cy="462686"/>
          </a:xfrm>
          <a:prstGeom prst="rect">
            <a:avLst/>
          </a:prstGeom>
        </p:spPr>
      </p:pic>
      <p:sp>
        <p:nvSpPr>
          <p:cNvPr id="14" name="rn_182"/>
          <p:cNvSpPr txBox="1"/>
          <p:nvPr/>
        </p:nvSpPr>
        <p:spPr>
          <a:xfrm>
            <a:off x="6665976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5DEEC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rT_183"/>
          <p:cNvSpPr txBox="1"/>
          <p:nvPr/>
        </p:nvSpPr>
        <p:spPr>
          <a:xfrm>
            <a:off x="4700016" y="356616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F1B2D"/>
                </a:solidFill>
              </a:rPr>
              <a:t>Specs dos dispositivos</a:t>
            </a:r>
            <a:endParaRPr lang="en-US" sz="2200" dirty="0"/>
          </a:p>
        </p:txBody>
      </p:sp>
      <p:sp>
        <p:nvSpPr>
          <p:cNvPr id="16" name="card_184"/>
          <p:cNvSpPr/>
          <p:nvPr/>
        </p:nvSpPr>
        <p:spPr>
          <a:xfrm>
            <a:off x="8119872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1E6EE"/>
            </a:solidFill>
            <a:prstDash val="solid"/>
          </a:ln>
          <a:effectLst>
            <a:outerShdw blurRad="127000" dist="25400" dir="5400000" algn="bl" rotWithShape="0">
              <a:srgbClr val="1E2F47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iconBg_185"/>
          <p:cNvSpPr/>
          <p:nvPr/>
        </p:nvSpPr>
        <p:spPr>
          <a:xfrm>
            <a:off x="8485632" y="2240280"/>
            <a:ext cx="1005840" cy="1005840"/>
          </a:xfrm>
          <a:prstGeom prst="ellipse">
            <a:avLst/>
          </a:prstGeom>
          <a:solidFill>
            <a:srgbClr val="3E7BEA"/>
          </a:solidFill>
          <a:ln w="12700">
            <a:solidFill>
              <a:srgbClr val="3E7BE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con_18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209" y="2511857"/>
            <a:ext cx="462686" cy="462686"/>
          </a:xfrm>
          <a:prstGeom prst="rect">
            <a:avLst/>
          </a:prstGeom>
        </p:spPr>
      </p:pic>
      <p:sp>
        <p:nvSpPr>
          <p:cNvPr id="19" name="rn_187"/>
          <p:cNvSpPr txBox="1"/>
          <p:nvPr/>
        </p:nvSpPr>
        <p:spPr>
          <a:xfrm>
            <a:off x="10451592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5DEEC"/>
                </a:solidFill>
              </a:rPr>
              <a:t>03</a:t>
            </a:r>
            <a:endParaRPr lang="en-US" sz="2800" dirty="0"/>
          </a:p>
        </p:txBody>
      </p:sp>
      <p:sp>
        <p:nvSpPr>
          <p:cNvPr id="20" name="rT_188"/>
          <p:cNvSpPr txBox="1"/>
          <p:nvPr/>
        </p:nvSpPr>
        <p:spPr>
          <a:xfrm>
            <a:off x="8485632" y="356616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F1B2D"/>
                </a:solidFill>
              </a:rPr>
              <a:t>Taxas de sampling diferentes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870"/>
                </a:solidFill>
              </a:rPr>
              <a:t>entre features diferentes da mesma modalidade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9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Dot_189"/>
          <p:cNvSpPr/>
          <p:nvPr/>
        </p:nvSpPr>
        <p:spPr>
          <a:xfrm>
            <a:off x="548640" y="274320"/>
            <a:ext cx="274320" cy="2743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tagIcon_19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3756"/>
            <a:ext cx="155448" cy="155448"/>
          </a:xfrm>
          <a:prstGeom prst="rect">
            <a:avLst/>
          </a:prstGeom>
        </p:spPr>
      </p:pic>
      <p:sp>
        <p:nvSpPr>
          <p:cNvPr id="4" name="tag_191"/>
          <p:cNvSpPr txBox="1"/>
          <p:nvPr/>
        </p:nvSpPr>
        <p:spPr>
          <a:xfrm>
            <a:off x="9144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Plano (keep it simple)</a:t>
            </a:r>
            <a:endParaRPr lang="en-US" sz="3000" dirty="0"/>
          </a:p>
        </p:txBody>
      </p:sp>
      <p:sp>
        <p:nvSpPr>
          <p:cNvPr id="6" name="stepBg_192"/>
          <p:cNvSpPr/>
          <p:nvPr/>
        </p:nvSpPr>
        <p:spPr>
          <a:xfrm>
            <a:off x="54864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A2A42"/>
          </a:solidFill>
          <a:ln w="9525">
            <a:solidFill>
              <a:srgbClr val="2A3D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tepDot_19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tepN_194"/>
          <p:cNvSpPr txBox="1"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stepT_195"/>
          <p:cNvSpPr txBox="1"/>
          <p:nvPr/>
        </p:nvSpPr>
        <p:spPr>
          <a:xfrm>
            <a:off x="822960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Treinar módulos</a:t>
            </a:r>
            <a:endParaRPr lang="en-US" sz="2000" dirty="0"/>
          </a:p>
        </p:txBody>
      </p:sp>
      <p:sp>
        <p:nvSpPr>
          <p:cNvPr id="10" name="stepD_196"/>
          <p:cNvSpPr txBox="1"/>
          <p:nvPr/>
        </p:nvSpPr>
        <p:spPr>
          <a:xfrm>
            <a:off x="822960" y="370332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</a:rPr>
              <a:t>Testar a eficácia dos modelos e a capacidade de fine-tuning de cada módulo por si só.</a:t>
            </a:r>
            <a:endParaRPr lang="en-US" sz="1400" dirty="0"/>
          </a:p>
        </p:txBody>
      </p:sp>
      <p:sp>
        <p:nvSpPr>
          <p:cNvPr id="11" name="arrow_197"/>
          <p:cNvSpPr txBox="1"/>
          <p:nvPr/>
        </p:nvSpPr>
        <p:spPr>
          <a:xfrm>
            <a:off x="3136392" y="2240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00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stepBg_198"/>
          <p:cNvSpPr/>
          <p:nvPr/>
        </p:nvSpPr>
        <p:spPr>
          <a:xfrm>
            <a:off x="3374136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A2A42"/>
          </a:solidFill>
          <a:ln w="9525">
            <a:solidFill>
              <a:srgbClr val="2A3D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tepDot_199"/>
          <p:cNvSpPr/>
          <p:nvPr/>
        </p:nvSpPr>
        <p:spPr>
          <a:xfrm>
            <a:off x="3648456" y="224028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tepN_200"/>
          <p:cNvSpPr txBox="1"/>
          <p:nvPr/>
        </p:nvSpPr>
        <p:spPr>
          <a:xfrm>
            <a:off x="364845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stepT_201"/>
          <p:cNvSpPr txBox="1"/>
          <p:nvPr/>
        </p:nvSpPr>
        <p:spPr>
          <a:xfrm>
            <a:off x="3648456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Extrair features</a:t>
            </a:r>
            <a:endParaRPr lang="en-US" sz="2000" dirty="0"/>
          </a:p>
        </p:txBody>
      </p:sp>
      <p:sp>
        <p:nvSpPr>
          <p:cNvPr id="16" name="stepD_202"/>
          <p:cNvSpPr txBox="1"/>
          <p:nvPr/>
        </p:nvSpPr>
        <p:spPr>
          <a:xfrm>
            <a:off x="3648456" y="370332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</a:rPr>
              <a:t>Extrair as features por módulo de dados.</a:t>
            </a:r>
            <a:endParaRPr lang="en-US" sz="1400" dirty="0"/>
          </a:p>
        </p:txBody>
      </p:sp>
      <p:sp>
        <p:nvSpPr>
          <p:cNvPr id="17" name="arrow_203"/>
          <p:cNvSpPr txBox="1"/>
          <p:nvPr/>
        </p:nvSpPr>
        <p:spPr>
          <a:xfrm>
            <a:off x="5961888" y="2240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00"/>
                </a:solidFill>
              </a:rPr>
              <a:t>›</a:t>
            </a:r>
            <a:endParaRPr lang="en-US" sz="2400" dirty="0"/>
          </a:p>
        </p:txBody>
      </p:sp>
      <p:sp>
        <p:nvSpPr>
          <p:cNvPr id="18" name="stepBg_204"/>
          <p:cNvSpPr/>
          <p:nvPr/>
        </p:nvSpPr>
        <p:spPr>
          <a:xfrm>
            <a:off x="6199632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A2A42"/>
          </a:solidFill>
          <a:ln w="9525">
            <a:solidFill>
              <a:srgbClr val="2A3D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tepDot_205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tepN_206"/>
          <p:cNvSpPr txBox="1"/>
          <p:nvPr/>
        </p:nvSpPr>
        <p:spPr>
          <a:xfrm>
            <a:off x="647395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stepT_207"/>
          <p:cNvSpPr txBox="1"/>
          <p:nvPr/>
        </p:nvSpPr>
        <p:spPr>
          <a:xfrm>
            <a:off x="6473952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Fundir</a:t>
            </a:r>
            <a:endParaRPr lang="en-US" sz="2000" dirty="0"/>
          </a:p>
        </p:txBody>
      </p:sp>
      <p:sp>
        <p:nvSpPr>
          <p:cNvPr id="22" name="stepD_208"/>
          <p:cNvSpPr txBox="1"/>
          <p:nvPr/>
        </p:nvSpPr>
        <p:spPr>
          <a:xfrm>
            <a:off x="6473952" y="3703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</a:rPr>
              <a:t>Num array de valores:</a:t>
            </a:r>
            <a:endParaRPr lang="en-US" sz="1400" dirty="0"/>
          </a:p>
        </p:txBody>
      </p:sp>
      <p:sp>
        <p:nvSpPr>
          <p:cNvPr id="23" name="chip_209"/>
          <p:cNvSpPr/>
          <p:nvPr/>
        </p:nvSpPr>
        <p:spPr>
          <a:xfrm>
            <a:off x="6473952" y="411480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0EA5A0">
              <a:alpha val="20000"/>
            </a:srgbClr>
          </a:solidFill>
          <a:ln w="9525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chipT_210"/>
          <p:cNvSpPr txBox="1"/>
          <p:nvPr/>
        </p:nvSpPr>
        <p:spPr>
          <a:xfrm>
            <a:off x="6583680" y="4114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Físico</a:t>
            </a:r>
            <a:r>
              <a:rPr lang="en-US" sz="1300" dirty="0">
                <a:solidFill>
                  <a:srgbClr val="FFFFFF"/>
                </a:solidFill>
              </a:rPr>
              <a:t>  →  atenção</a:t>
            </a:r>
            <a:endParaRPr lang="en-US" sz="1300" dirty="0"/>
          </a:p>
        </p:txBody>
      </p:sp>
      <p:sp>
        <p:nvSpPr>
          <p:cNvPr id="25" name="chip_211"/>
          <p:cNvSpPr/>
          <p:nvPr/>
        </p:nvSpPr>
        <p:spPr>
          <a:xfrm>
            <a:off x="6473952" y="46177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F2694A">
              <a:alpha val="20000"/>
            </a:srgbClr>
          </a:solidFill>
          <a:ln w="9525">
            <a:solidFill>
              <a:srgbClr val="F269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chipT_212"/>
          <p:cNvSpPr txBox="1"/>
          <p:nvPr/>
        </p:nvSpPr>
        <p:spPr>
          <a:xfrm>
            <a:off x="6583680" y="4617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Emocional</a:t>
            </a:r>
            <a:r>
              <a:rPr lang="en-US" sz="1300" dirty="0">
                <a:solidFill>
                  <a:srgbClr val="FFFFFF"/>
                </a:solidFill>
              </a:rPr>
              <a:t>  →  emoção</a:t>
            </a:r>
            <a:endParaRPr lang="en-US" sz="1300" dirty="0"/>
          </a:p>
        </p:txBody>
      </p:sp>
      <p:sp>
        <p:nvSpPr>
          <p:cNvPr id="27" name="chip_213"/>
          <p:cNvSpPr/>
          <p:nvPr/>
        </p:nvSpPr>
        <p:spPr>
          <a:xfrm>
            <a:off x="6473952" y="512064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D63F72">
              <a:alpha val="20000"/>
            </a:srgbClr>
          </a:solidFill>
          <a:ln w="9525">
            <a:solidFill>
              <a:srgbClr val="D63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chipT_214"/>
          <p:cNvSpPr txBox="1"/>
          <p:nvPr/>
        </p:nvSpPr>
        <p:spPr>
          <a:xfrm>
            <a:off x="6583680" y="5120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Fisiológico</a:t>
            </a:r>
            <a:r>
              <a:rPr lang="en-US" sz="1300" dirty="0">
                <a:solidFill>
                  <a:srgbClr val="FFFFFF"/>
                </a:solidFill>
              </a:rPr>
              <a:t>  →  disposição</a:t>
            </a:r>
            <a:endParaRPr lang="en-US" sz="1300" dirty="0"/>
          </a:p>
        </p:txBody>
      </p:sp>
      <p:sp>
        <p:nvSpPr>
          <p:cNvPr id="29" name="arrow_215"/>
          <p:cNvSpPr txBox="1"/>
          <p:nvPr/>
        </p:nvSpPr>
        <p:spPr>
          <a:xfrm>
            <a:off x="8787384" y="2240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00"/>
                </a:solidFill>
              </a:rPr>
              <a:t>›</a:t>
            </a:r>
            <a:endParaRPr lang="en-US" sz="2400" dirty="0"/>
          </a:p>
        </p:txBody>
      </p:sp>
      <p:sp>
        <p:nvSpPr>
          <p:cNvPr id="30" name="stepBg_216"/>
          <p:cNvSpPr/>
          <p:nvPr/>
        </p:nvSpPr>
        <p:spPr>
          <a:xfrm>
            <a:off x="9025128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1A2A42"/>
          </a:solidFill>
          <a:ln w="9525">
            <a:solidFill>
              <a:srgbClr val="2A3D5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stepDot_217"/>
          <p:cNvSpPr/>
          <p:nvPr/>
        </p:nvSpPr>
        <p:spPr>
          <a:xfrm>
            <a:off x="9299448" y="224028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stepN_218"/>
          <p:cNvSpPr txBox="1"/>
          <p:nvPr/>
        </p:nvSpPr>
        <p:spPr>
          <a:xfrm>
            <a:off x="929944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4</a:t>
            </a:r>
            <a:endParaRPr lang="en-US" sz="2200" dirty="0"/>
          </a:p>
        </p:txBody>
      </p:sp>
      <p:sp>
        <p:nvSpPr>
          <p:cNvPr id="33" name="stepT_219"/>
          <p:cNvSpPr txBox="1"/>
          <p:nvPr/>
        </p:nvSpPr>
        <p:spPr>
          <a:xfrm>
            <a:off x="9299448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Fuzzy logic</a:t>
            </a:r>
            <a:endParaRPr lang="en-US" sz="2000" dirty="0"/>
          </a:p>
        </p:txBody>
      </p:sp>
      <p:sp>
        <p:nvSpPr>
          <p:cNvPr id="34" name="stepD_220"/>
          <p:cNvSpPr txBox="1"/>
          <p:nvPr/>
        </p:nvSpPr>
        <p:spPr>
          <a:xfrm>
            <a:off x="9299448" y="370332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</a:rPr>
              <a:t>Aplicar fuzzy logic </a:t>
            </a:r>
            <a:r>
              <a:rPr lang="en-US" sz="1400" dirty="0" err="1">
                <a:solidFill>
                  <a:srgbClr val="C9D2E0"/>
                </a:solidFill>
              </a:rPr>
              <a:t>ou</a:t>
            </a:r>
            <a:r>
              <a:rPr lang="en-US" sz="1400" dirty="0">
                <a:solidFill>
                  <a:srgbClr val="C9D2E0"/>
                </a:solidFill>
              </a:rPr>
              <a:t> </a:t>
            </a:r>
            <a:r>
              <a:rPr lang="en-US" sz="1400" dirty="0" err="1">
                <a:solidFill>
                  <a:srgbClr val="C9D2E0"/>
                </a:solidFill>
              </a:rPr>
              <a:t>fusão</a:t>
            </a:r>
            <a:r>
              <a:rPr lang="en-US" sz="1400" dirty="0">
                <a:solidFill>
                  <a:srgbClr val="C9D2E0"/>
                </a:solidFill>
              </a:rPr>
              <a:t> </a:t>
            </a:r>
            <a:r>
              <a:rPr lang="en-US" sz="1400" dirty="0" err="1">
                <a:solidFill>
                  <a:srgbClr val="C9D2E0"/>
                </a:solidFill>
              </a:rPr>
              <a:t>estocástica</a:t>
            </a:r>
            <a:r>
              <a:rPr lang="en-US" sz="1400" dirty="0">
                <a:solidFill>
                  <a:srgbClr val="C9D2E0"/>
                </a:solidFill>
              </a:rPr>
              <a:t> para deduzir a aptidão de condução.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dutor">
  <a:themeElements>
    <a:clrScheme name="Condutor">
      <a:dk1>
        <a:srgbClr val="0F1B2D"/>
      </a:dk1>
      <a:lt1>
        <a:srgbClr val="FFFFFF"/>
      </a:lt1>
      <a:dk2>
        <a:srgbClr val="4A5870"/>
      </a:dk2>
      <a:lt2>
        <a:srgbClr val="F2F5F9"/>
      </a:lt2>
      <a:accent1>
        <a:srgbClr val="F2A900"/>
      </a:accent1>
      <a:accent2>
        <a:srgbClr val="0EA5A0"/>
      </a:accent2>
      <a:accent3>
        <a:srgbClr val="F2694A"/>
      </a:accent3>
      <a:accent4>
        <a:srgbClr val="D63F72"/>
      </a:accent4>
      <a:accent5>
        <a:srgbClr val="6C7A91"/>
      </a:accent5>
      <a:accent6>
        <a:srgbClr val="3E7BEA"/>
      </a:accent6>
      <a:hlink>
        <a:srgbClr val="0EA5A0"/>
      </a:hlink>
      <a:folHlink>
        <a:srgbClr val="6C7A91"/>
      </a:folHlink>
    </a:clrScheme>
    <a:fontScheme name="Condut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781</Words>
  <Application>Microsoft Office PowerPoint</Application>
  <PresentationFormat>Ecrã Panorâmico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4" baseType="lpstr">
      <vt:lpstr>Arial</vt:lpstr>
      <vt:lpstr>Calibri</vt:lpstr>
      <vt:lpstr>Condutor</vt:lpstr>
      <vt:lpstr>UL-DD: A Multimodal Drowsiness Dataset Using Video, Biometric Signals, and Behavioral Data</vt:lpstr>
      <vt:lpstr>UL-DD: A Multimodal Drowsiness Dataset Using Video, Biometric Signals, and Behavioral Data</vt:lpstr>
      <vt:lpstr>Problemas gerais</vt:lpstr>
      <vt:lpstr>Câmera</vt:lpstr>
      <vt:lpstr>Problemas da câmera</vt:lpstr>
      <vt:lpstr>Voz</vt:lpstr>
      <vt:lpstr>Problemas da voz</vt:lpstr>
      <vt:lpstr>Sensores fisiológicos</vt:lpstr>
      <vt:lpstr>Problemas dos sensores fisiológicos</vt:lpstr>
      <vt:lpstr>Restrições</vt:lpstr>
      <vt:lpstr>Plano (keep it simple)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multimodal não intrusiva de estados do condutor</dc:title>
  <dc:subject>PptxGenJS Presentation</dc:subject>
  <dc:creator>PptxGenJS</dc:creator>
  <cp:lastModifiedBy>João Pedro Leal Costa</cp:lastModifiedBy>
  <cp:revision>3</cp:revision>
  <dcterms:created xsi:type="dcterms:W3CDTF">2026-11-01T19:39:04Z</dcterms:created>
  <dcterms:modified xsi:type="dcterms:W3CDTF">2026-11-01T19:52:48Z</dcterms:modified>
</cp:coreProperties>
</file>